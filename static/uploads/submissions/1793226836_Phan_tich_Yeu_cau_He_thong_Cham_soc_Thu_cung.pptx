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Inter"/>
      <ns0:bold ns1:id="rIdFont19"/>
      <ns0:regular ns1:id="rIdFont2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eba725fa-3de4-4241-b8cb-03034187b0f5.fntdata" /><ns0:Relationship Id="rIdFont20" Type="http://schemas.openxmlformats.org/officeDocument/2006/relationships/font" Target="fonts/dd62d393-c411-442f-a9a8-ced2a2e548ce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3896617"/>
            <a:ext cx="7620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066032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Inter"/>
              </a:rPr>
              <a:t>PHÂN TÍCH &amp; THIẾT KẾ HỆ THỐNG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494657"/>
            <a:ext cx="9101137" cy="117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b="1" sz="4200" i="0" u="none">
                <a:solidFill>
                  <a:srgbClr val="FFFFFF"/>
                </a:solidFill>
                <a:latin typeface="Inter"/>
              </a:rPr>
              <a:t>Đặc Tả Yêu Cầu Phần Mềm Quản Lý Chăm Sóc Thú Cưng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239517"/>
            <a:ext cx="6762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CBD5E1"/>
                </a:solidFill>
                <a:latin typeface="Inter"/>
              </a:rPr>
              <a:t>Đánh giá chất lượng, ranh giới chức năng và các tiêu chuẩn phi chức năng cốt lõi.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A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12714" y="2847975"/>
            <a:ext cx="7566570" cy="733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8FAFC"/>
                </a:solidFill>
                <a:latin typeface="Inter"/>
              </a:rPr>
              <a:t>Yêu Cầu Chức Năng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45656" y="3733800"/>
            <a:ext cx="550068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F8FAFC"/>
                </a:solidFill>
                <a:latin typeface="Inter"/>
              </a:rPr>
              <a:t>5 Phân hệ nghiệp vụ cốt lõi của hệ thống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57200"/>
            <a:ext cx="1066800" cy="276225"/>
          </a:xfrm>
          <a:prstGeom prst="roundRect">
            <a:avLst>
              <a:gd name="adj" fmla="val 2758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843212"/>
            <a:ext cx="3454449" cy="2600325"/>
          </a:xfrm>
          <a:prstGeom prst="roundRect">
            <a:avLst>
              <a:gd name="adj" fmla="val 58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68849" y="2843212"/>
            <a:ext cx="3454449" cy="2600325"/>
          </a:xfrm>
          <a:prstGeom prst="roundRect">
            <a:avLst>
              <a:gd name="adj" fmla="val 58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28099" y="2843212"/>
            <a:ext cx="3454449" cy="2600325"/>
          </a:xfrm>
          <a:prstGeom prst="roundRect">
            <a:avLst>
              <a:gd name="adj" fmla="val 58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148012"/>
            <a:ext cx="2844849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649" y="3148012"/>
            <a:ext cx="2844849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2899" y="3148012"/>
            <a:ext cx="2844849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3900" y="514350"/>
            <a:ext cx="9334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PHÂN HỆ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885825"/>
            <a:ext cx="115824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Inter"/>
              </a:rPr>
              <a:t>Quản lý Tài khoản &amp; Phân quyền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43312"/>
            <a:ext cx="373386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Xác Thực An Toàn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33837"/>
            <a:ext cx="2940099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Sử dụng chuỗi token JWT để quản lý phiên.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24387"/>
            <a:ext cx="2940099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Mã hóa toàn bộ mật khẩu bằng chuẩn BCrypt.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649" y="3643312"/>
            <a:ext cx="373386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Vai Trò Người Dùng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649" y="4033837"/>
            <a:ext cx="2940099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Phân quyền nghiêm ngặt 3 cấp độ.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3649" y="4624387"/>
            <a:ext cx="2940099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Quản trị viên (Admin), Nhân viên (Staff), Khách hàng (Customer).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899" y="3643312"/>
            <a:ext cx="373386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Hồ Sơ Cá Nhân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2899" y="4033837"/>
            <a:ext cx="2940099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Khách hàng tự đăng ký tài khoản mới.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2899" y="4624387"/>
            <a:ext cx="2940099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Tự do cập nhật thông tin và đổi mật khẩu.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57200"/>
            <a:ext cx="1095375" cy="276225"/>
          </a:xfrm>
          <a:prstGeom prst="roundRect">
            <a:avLst>
              <a:gd name="adj" fmla="val 2758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72175" y="2711946"/>
            <a:ext cx="5610225" cy="2862857"/>
          </a:xfrm>
          <a:prstGeom prst="roundRect">
            <a:avLst>
              <a:gd name="adj" fmla="val 5323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3026271"/>
            <a:ext cx="4981575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095625"/>
            <a:ext cx="533400" cy="533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295775"/>
            <a:ext cx="533400" cy="533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287" y="3248025"/>
            <a:ext cx="200025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448175"/>
            <a:ext cx="228600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3900" y="514350"/>
            <a:ext cx="9620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PHÂN HỆ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885825"/>
            <a:ext cx="115824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Inter"/>
              </a:rPr>
              <a:t>Quản lý Khách hàng &amp; Thú cưng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3521571"/>
            <a:ext cx="59055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Theo Dõi Y Tế Chuyên Sâu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850" y="4028301"/>
            <a:ext cx="9525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F6212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4026396"/>
            <a:ext cx="5676900" cy="308520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b="0" sz="1350" i="0" u="none">
                <a:solidFill>
                  <a:srgbClr val="3F6212"/>
                </a:solidFill>
                <a:latin typeface="Inter"/>
              </a:rPr>
              <a:t>Ghi nhận lịch sử tiêm chủng.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850" y="4336821"/>
            <a:ext cx="9525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F6212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5100" y="4334916"/>
            <a:ext cx="5676900" cy="308520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b="0" sz="1350" i="0" u="none">
                <a:solidFill>
                  <a:srgbClr val="3F6212"/>
                </a:solidFill>
                <a:latin typeface="Inter"/>
              </a:rPr>
              <a:t>Theo dõi tiền sử bệnh lý nền.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850" y="4645342"/>
            <a:ext cx="9525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F6212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5100" y="4643437"/>
            <a:ext cx="5676900" cy="308520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b="0" sz="1350" i="0" u="none">
                <a:solidFill>
                  <a:srgbClr val="3F6212"/>
                </a:solidFill>
                <a:latin typeface="Inter"/>
              </a:rPr>
              <a:t>Cảnh báo tự động về dị ứng.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850" y="4953863"/>
            <a:ext cx="9525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F6212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5100" y="4951958"/>
            <a:ext cx="5676900" cy="308520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b="0" sz="1350" i="0" u="none">
                <a:solidFill>
                  <a:srgbClr val="3F6212"/>
                </a:solidFill>
                <a:latin typeface="Inter"/>
              </a:rPr>
              <a:t>Lưu ý đặc biệt về tính cách thú cưng.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095625"/>
            <a:ext cx="553819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Hồ Sơ Chủ Nuôi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419475"/>
            <a:ext cx="431482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Inter"/>
              </a:rPr>
              <a:t>Lưu trữ thông tin liên hệ và lịch sử sử dụng dịch vụ toàn diện.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295775"/>
            <a:ext cx="553819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Lý Lịch Vật Nuôi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619625"/>
            <a:ext cx="431482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Inter"/>
              </a:rPr>
              <a:t>Chi tiết loài, giống, tuổi, cân nặng và hình ảnh nhận diện.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57200"/>
            <a:ext cx="1095375" cy="276225"/>
          </a:xfrm>
          <a:prstGeom prst="roundRect">
            <a:avLst>
              <a:gd name="adj" fmla="val 2758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3900" y="514350"/>
            <a:ext cx="9620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PHÂN HỆ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85825"/>
            <a:ext cx="115824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Inter"/>
              </a:rPr>
              <a:t>Quy trình Dịch vụ &amp; Lịch hẹn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1100" y="3705225"/>
            <a:ext cx="98298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52550" y="340042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11550" y="340042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29552" y="340042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0551" y="3400425"/>
            <a:ext cx="609600" cy="609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5339" y="3590925"/>
            <a:ext cx="200025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09675" y="3400425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8FAFC"/>
                </a:solidFill>
                <a:latin typeface="Inter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2256" y="4200525"/>
            <a:ext cx="149018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Thiết lập Gói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662" y="4505325"/>
            <a:ext cx="26193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Bảng giá thay đổi linh hoạt theo cân nặng.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8675" y="3400425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8FAFC"/>
                </a:solidFill>
                <a:latin typeface="Inter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9950" y="4200525"/>
            <a:ext cx="241280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Đặt Lịch Trực Tuyến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06663" y="4505325"/>
            <a:ext cx="26193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Chọn dịch vụ và khung giờ mong muốn.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6467" y="4200525"/>
            <a:ext cx="213776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Chống Trùng Lịch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5664" y="4505325"/>
            <a:ext cx="26193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Tự động kiểm tra và chặn xung đột thời gian.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86677" y="3400425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8FAFC"/>
                </a:solidFill>
                <a:latin typeface="Inter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46716" y="4200525"/>
            <a:ext cx="217527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Duyệt &amp; Nhắc Hẹn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4664" y="4505325"/>
            <a:ext cx="26193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Xác nhận, dời giờ và tự động gửi thông báo.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57200"/>
            <a:ext cx="1095375" cy="276225"/>
          </a:xfrm>
          <a:prstGeom prst="roundRect">
            <a:avLst>
              <a:gd name="adj" fmla="val 2758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733675"/>
            <a:ext cx="53721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733675"/>
            <a:ext cx="53721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257675"/>
            <a:ext cx="53721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0300" y="4257675"/>
            <a:ext cx="53721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076575"/>
            <a:ext cx="304800" cy="647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3076575"/>
            <a:ext cx="266700" cy="647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600575"/>
            <a:ext cx="304800" cy="647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0" y="4600575"/>
            <a:ext cx="342900" cy="647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3900" y="514350"/>
            <a:ext cx="9620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PHÂN HỆ 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885825"/>
            <a:ext cx="115824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Inter"/>
              </a:rPr>
              <a:t>Tiếp nhận &amp; Chăm sóc Thực tế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9700" y="3038475"/>
            <a:ext cx="56007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1. Tiếp Nhận Tại Quầy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9700" y="3343275"/>
            <a:ext cx="43624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Cập nhật mức cân nặng thực tế và ghi nhận thể trạng sức khỏe ban đầu.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2300" y="3038475"/>
            <a:ext cx="52197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2. Phân Công Nhân Sự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2300" y="3343275"/>
            <a:ext cx="52197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Chỉ định trực tiếp kỹ thuật viên chăm sóc cho từng vật nuôi.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9700" y="4562475"/>
            <a:ext cx="56007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3. Cập Nhật Tiến Độ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4867275"/>
            <a:ext cx="43624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Ghi nhận hình ảnh thực tế và các ghi chú trong suốt quá trình dịch vụ.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8500" y="4562475"/>
            <a:ext cx="51435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4. Bàn Giao Hoàn Tất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8500" y="4867275"/>
            <a:ext cx="43243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Nghiệm thu dịch vụ và gửi thông báo hoàn thành cho chủ nuôi.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57200"/>
            <a:ext cx="1095375" cy="276225"/>
          </a:xfrm>
          <a:prstGeom prst="roundRect">
            <a:avLst>
              <a:gd name="adj" fmla="val 2758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203" y="3048000"/>
            <a:ext cx="762000" cy="76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2802" y="3048000"/>
            <a:ext cx="762000" cy="762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1450" y="3048000"/>
            <a:ext cx="762000" cy="762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2903" y="3276600"/>
            <a:ext cx="2286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0452" y="3276600"/>
            <a:ext cx="2667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1000" y="3276600"/>
            <a:ext cx="3429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3900" y="514350"/>
            <a:ext cx="9620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PHÂN HỆ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885825"/>
            <a:ext cx="115824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Inter"/>
              </a:rPr>
              <a:t>Hóa đơn, Thanh toán &amp; Báo cáo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125" y="4038600"/>
            <a:ext cx="3866303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Xử Lý Hóa Đơn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6180" y="4467225"/>
            <a:ext cx="3682193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Tự động tính chi phí dịch vụ, cộng phụ phí phát sinh và trừ chiết khấu khuyến mãi.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9790" y="4038600"/>
            <a:ext cx="3568024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Thanh Toán Đa Dạng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743" y="4467225"/>
            <a:ext cx="3398118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Hỗ trợ thanh toán Tiền mặt hoặc Quét QR Code. Xuất và in biên lai trực tiếp.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9011" y="4038600"/>
            <a:ext cx="376687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Báo Cáo Thống Kê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8699" y="4467225"/>
            <a:ext cx="3587501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Đo lường doanh thu định kỳ, tổng hợp lịch hẹn và phân tích hiệu suất nhân viên.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5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25910" y="2847975"/>
            <a:ext cx="8940179" cy="733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FFFFF"/>
                </a:solidFill>
                <a:latin typeface="Inter"/>
              </a:rPr>
              <a:t>Yêu Cầu Phi Chức Năng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99109" y="3733800"/>
            <a:ext cx="739378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FFEDD5"/>
                </a:solidFill>
                <a:latin typeface="Inter"/>
              </a:rPr>
              <a:t>Tiêu chuẩn Chất lượng, Hiệu suất và Bảo mật Hệ thống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57200"/>
            <a:ext cx="2125116" cy="276225"/>
          </a:xfrm>
          <a:prstGeom prst="roundRect">
            <a:avLst>
              <a:gd name="adj" fmla="val 27586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5010150"/>
            <a:ext cx="10972800" cy="85725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514600"/>
            <a:ext cx="3403550" cy="2019300"/>
          </a:xfrm>
          <a:prstGeom prst="roundRect">
            <a:avLst>
              <a:gd name="adj" fmla="val 75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94150" y="2514600"/>
            <a:ext cx="3403550" cy="2019300"/>
          </a:xfrm>
          <a:prstGeom prst="roundRect">
            <a:avLst>
              <a:gd name="adj" fmla="val 75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78700" y="2419350"/>
            <a:ext cx="3403550" cy="2209800"/>
          </a:xfrm>
          <a:prstGeom prst="roundRect">
            <a:avLst>
              <a:gd name="adj" fmla="val 689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5010150"/>
            <a:ext cx="38100" cy="8572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3900" y="514350"/>
            <a:ext cx="1991766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2410C"/>
                </a:solidFill>
                <a:latin typeface="Inter"/>
              </a:rPr>
              <a:t>TRẢI NGHIỆM &amp; HIỆU SUẤT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885825"/>
            <a:ext cx="115824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Inter"/>
              </a:rPr>
              <a:t>Khả Năng Sử Dụng &amp; Tốc Độ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5238750"/>
            <a:ext cx="105727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Độ tương thích đa thiết bị (RUR):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Tối ưu hóa giao diện cho PC (Quầy lễ tân), Tablet (Kỹ thuật viên) và Smartphone (Khách hàng).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3113" y="2819400"/>
            <a:ext cx="1476375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1" sz="6000" i="0" u="none">
                <a:solidFill>
                  <a:srgbClr val="0F172A"/>
                </a:solidFill>
                <a:latin typeface="Inter"/>
              </a:rPr>
              <a:t>75</a:t>
            </a:r>
            <a:r>
              <a:rPr b="1" sz="3000" i="0" u="none">
                <a:solidFill>
                  <a:srgbClr val="0F172A"/>
                </a:solidFill>
                <a:latin typeface="Inter"/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611" y="3733800"/>
            <a:ext cx="302537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EA580C"/>
                </a:solidFill>
                <a:latin typeface="Inter"/>
              </a:rPr>
              <a:t>CHỈ SỐ KHẢ DỤNG (SUS)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972" y="4038600"/>
            <a:ext cx="29646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Giao diện trực quan, dễ thao tác.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27898" y="2819400"/>
            <a:ext cx="1535906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1" sz="6000" i="0" u="none">
                <a:solidFill>
                  <a:srgbClr val="0F172A"/>
                </a:solidFill>
                <a:latin typeface="Inter"/>
              </a:rPr>
              <a:t>&lt;2</a:t>
            </a:r>
            <a:r>
              <a:rPr b="1" sz="3000" i="0" u="none">
                <a:solidFill>
                  <a:srgbClr val="0F172A"/>
                </a:solidFill>
                <a:latin typeface="Inter"/>
              </a:rPr>
              <a:t>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6892" y="3733800"/>
            <a:ext cx="333791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EA580C"/>
                </a:solidFill>
                <a:latin typeface="Inter"/>
              </a:rPr>
              <a:t>THỜI GIAN PHẢN HỒI (SRT)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7304" y="4038600"/>
            <a:ext cx="341709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Tải danh sách dữ liệu cơ bản siêu tốc.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17198" y="2724150"/>
            <a:ext cx="1726406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1" sz="6000" i="0" u="none">
                <a:solidFill>
                  <a:srgbClr val="0F172A"/>
                </a:solidFill>
                <a:latin typeface="Inter"/>
              </a:rPr>
              <a:t>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678" y="3638550"/>
            <a:ext cx="357544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EA580C"/>
                </a:solidFill>
                <a:latin typeface="Inter"/>
              </a:rPr>
              <a:t>TẢI TRỌNG (CONCURRENCY)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4256" y="3943350"/>
            <a:ext cx="3492437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Kết nối đồng thời không suy giảm tốc độ.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57200"/>
            <a:ext cx="1697384" cy="276225"/>
          </a:xfrm>
          <a:prstGeom prst="roundRect">
            <a:avLst>
              <a:gd name="adj" fmla="val 27586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2924175"/>
            <a:ext cx="5753100" cy="2438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3850" y="3381375"/>
            <a:ext cx="1524000" cy="152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3900" y="514350"/>
            <a:ext cx="1564034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2410C"/>
                </a:solidFill>
                <a:latin typeface="Inter"/>
              </a:rPr>
              <a:t>BẢO MẬT HỆ THỐNG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85825"/>
            <a:ext cx="115824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Inter"/>
              </a:rPr>
              <a:t>An Toàn Dữ Liệu Chuyên Sâu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452687"/>
            <a:ext cx="6350793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Mã Hóa &amp; Xác Thực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805112"/>
            <a:ext cx="49339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Inter"/>
              </a:rPr>
              <a:t>Mã hóa mật khẩu một chiều bằng thuật toán BCrypt. Xác thực luồng API qua chuỗi Token JWT.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681412"/>
            <a:ext cx="6350793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Chống Tấn Công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033837"/>
            <a:ext cx="49339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Inter"/>
              </a:rPr>
              <a:t>Tự động khóa tài khoản khi Brute-force. Chặn SQL Injection và XSS bằng Entity Framework Core.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910137"/>
            <a:ext cx="6350793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Sao Lưu Dữ Liệu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5262562"/>
            <a:ext cx="49339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Inter"/>
              </a:rPr>
              <a:t>Cơ chế backup CSDL SQL Server định kỳ hàng ngày, phòng ngừa rủi ro mất mát dữ liệu y tế.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57200"/>
            <a:ext cx="2051744" cy="276225"/>
          </a:xfrm>
          <a:prstGeom prst="roundRect">
            <a:avLst>
              <a:gd name="adj" fmla="val 27586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843212"/>
            <a:ext cx="3454449" cy="2600325"/>
          </a:xfrm>
          <a:prstGeom prst="roundRect">
            <a:avLst>
              <a:gd name="adj" fmla="val 58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68849" y="2843212"/>
            <a:ext cx="3454449" cy="2600325"/>
          </a:xfrm>
          <a:prstGeom prst="roundRect">
            <a:avLst>
              <a:gd name="adj" fmla="val 58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28099" y="2843212"/>
            <a:ext cx="3454449" cy="2600325"/>
          </a:xfrm>
          <a:prstGeom prst="roundRect">
            <a:avLst>
              <a:gd name="adj" fmla="val 58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148012"/>
            <a:ext cx="2844849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649" y="3148012"/>
            <a:ext cx="2844849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2899" y="3148012"/>
            <a:ext cx="2844849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3900" y="514350"/>
            <a:ext cx="1918394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2410C"/>
                </a:solidFill>
                <a:latin typeface="Inter"/>
              </a:rPr>
              <a:t>ĐỘ TIN CẬY &amp; KIẾN TRÚC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885825"/>
            <a:ext cx="115824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Inter"/>
              </a:rPr>
              <a:t>Kiểm Thử &amp; Khả Năng Mở Rộng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43312"/>
            <a:ext cx="373386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Độ Tin Cậy Kỹ Thuật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33837"/>
            <a:ext cx="2940099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Ngăn chặn 100% xung đột lịch hẹn (BCR).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24387"/>
            <a:ext cx="2940099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Tính toán hóa đơn và phụ phí chính xác tuyệt đối.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649" y="3643312"/>
            <a:ext cx="373386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Kiểm Soát Ngoại Lệ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649" y="4033837"/>
            <a:ext cx="3556062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Tỷ lệ Pass Test Case ≥ 90%.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3649" y="4367212"/>
            <a:ext cx="2940099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Không tồn tại lỗi Crash (Critical) trước khi chuyển giao.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899" y="3643312"/>
            <a:ext cx="373386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Kiến Trúc Mở Rộng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2899" y="4033837"/>
            <a:ext cx="2940099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Áp dụng kiến trúc MVC phân tách trách nhiệm.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2899" y="4624387"/>
            <a:ext cx="2940099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CSDL chuẩn hóa 3NF, sẵn sàng cắm thêm module mới.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3023" y="2809875"/>
            <a:ext cx="7625953" cy="733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FFFFF"/>
                </a:solidFill>
                <a:latin typeface="Inter"/>
              </a:rPr>
              <a:t>Trân Trọng Cảm 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32734" y="3771900"/>
            <a:ext cx="272653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CBD5E1"/>
                </a:solidFill>
                <a:latin typeface="Inter"/>
              </a:rPr>
              <a:t>Q&amp;A - Phần Hỏi Đáp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